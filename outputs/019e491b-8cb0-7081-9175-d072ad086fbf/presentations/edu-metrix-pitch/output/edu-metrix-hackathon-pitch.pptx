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4736" y="0"/>
            <a:ext cx="4014215" cy="6858000"/>
          </a:xfrm>
          <a:prstGeom prst="rect">
            <a:avLst/>
          </a:prstGeom>
          <a:solidFill>
            <a:srgbClr val="14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530352"/>
            <a:ext cx="68580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C896"/>
                </a:solidFill>
                <a:latin typeface="Aptos"/>
              </a:rPr>
              <a:t>EDU-METRIX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81328"/>
            <a:ext cx="722376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Georgia"/>
              </a:rPr>
              <a:t>Grant risk becomes visible before it becomes irreversible.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66294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C8D0E8"/>
                </a:solidFill>
                <a:latin typeface="Aptos"/>
              </a:rPr>
              <a:t>A university decision platform that unifies attendance, GPA, assignments, achievements, ideas, mentor feedback and admin controls into one fair grant-selection cockpit.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62272"/>
            <a:ext cx="6217920" cy="9144"/>
          </a:xfrm>
          <a:prstGeom prst="rect">
            <a:avLst/>
          </a:prstGeom>
          <a:solidFill>
            <a:srgbClr val="2B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473659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0C896"/>
                </a:solidFill>
                <a:latin typeface="Georgia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5193792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final score ceiling with employment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473659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6E7BFF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51937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rating dimensions in one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73659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2B84B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19379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role-specific workspaces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1447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8791B4"/>
                </a:solidFill>
                <a:latin typeface="Aptos"/>
              </a:rPr>
              <a:t>Pitch deck / PDP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574243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Aptos"/>
              </a:rPr>
              <a:t>Dominant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606247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9C2DE"/>
                </a:solidFill>
                <a:latin typeface="Aptos"/>
              </a:rPr>
              <a:t>Student • Mentor •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Grant decisions fail when signals live in separate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687386"/>
                </a:solidFill>
                <a:latin typeface="Aptos"/>
              </a:rPr>
              <a:t>Universities do not lose fairness because they lack data. They lose fairness because GPA, attendance, discipline, achievements and human feedback are reviewed too late and too separately.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1546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1508760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020"/>
                </a:solidFill>
                <a:latin typeface="Georgia"/>
              </a:rPr>
              <a:t>Late risk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2843784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687386"/>
                </a:solidFill>
                <a:latin typeface="Aptos"/>
              </a:rPr>
              <a:t>Students discover grant risk after GPA or attendance has already crossed a red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3200400"/>
            <a:ext cx="31546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7136" y="3200400"/>
            <a:ext cx="54864" cy="150876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336499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020"/>
                </a:solidFill>
                <a:latin typeface="Georgia"/>
              </a:rPr>
              <a:t>Manual evidence queues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730752"/>
            <a:ext cx="2843784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687386"/>
                </a:solidFill>
                <a:latin typeface="Aptos"/>
              </a:rPr>
              <a:t>Certificates, mentor notes and admin comments sit outside the scoring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3200400"/>
            <a:ext cx="31546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3200400"/>
            <a:ext cx="54864" cy="1508760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336499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020"/>
                </a:solidFill>
                <a:latin typeface="Georgia"/>
              </a:rPr>
              <a:t>No improvement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730752"/>
            <a:ext cx="2843784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687386"/>
                </a:solidFill>
                <a:latin typeface="Aptos"/>
              </a:rPr>
              <a:t>Students can complain about university problems, but useful ideas rarely become measured contribution.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87386"/>
                </a:solidFill>
                <a:latin typeface="Aptos"/>
              </a:rPr>
              <a:t>Core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8595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B1020"/>
                </a:solidFill>
                <a:latin typeface="Georgia"/>
              </a:rPr>
              <a:t>The winning platform is not another dashboard. It is a rules-backed operating layer for fair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5349240"/>
            <a:ext cx="914400" cy="9144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5532120"/>
            <a:ext cx="603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C896"/>
                </a:solidFill>
                <a:latin typeface="Aptos"/>
              </a:rPr>
              <a:t>Fairness
needs
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PLATFORM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686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Edu-Metrix turns raw campus activity into decisions students can understand.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2880360"/>
            <a:ext cx="223113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" y="2880360"/>
            <a:ext cx="2231136" cy="73152"/>
          </a:xfrm>
          <a:prstGeom prst="rect">
            <a:avLst/>
          </a:prstGeom>
          <a:solidFill>
            <a:srgbClr val="28B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456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858768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FaceID/API import
GPA &amp; assignments
Mentor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3794760"/>
            <a:ext cx="402336" cy="27432"/>
          </a:xfrm>
          <a:prstGeom prst="rect">
            <a:avLst/>
          </a:prstGeom>
          <a:solidFill>
            <a:srgbClr val="28B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365760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8B8D5"/>
                </a:solidFill>
                <a:latin typeface="Apto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880360"/>
            <a:ext cx="223113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9312" y="2880360"/>
            <a:ext cx="2231136" cy="73152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3456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3858768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Rules engine
Grant thresholds
Bonus / penalty caps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7024" y="3794760"/>
            <a:ext cx="402336" cy="27432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365760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7BFF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2880360"/>
            <a:ext cx="223113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2880360"/>
            <a:ext cx="2231136" cy="73152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456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58768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Student cockpit
Risk alerts
Feedback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794760"/>
            <a:ext cx="402336" cy="27432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65760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2B84B"/>
                </a:solidFill>
                <a:latin typeface="Apto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2880360"/>
            <a:ext cx="223113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2880360"/>
            <a:ext cx="2231136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3456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858768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Admin matrix
Approval queues
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23036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87386"/>
                </a:solidFill>
                <a:latin typeface="Aptos"/>
              </a:rPr>
              <a:t>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650992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>
                <a:solidFill>
                  <a:srgbClr val="0B1020"/>
                </a:solidFill>
                <a:latin typeface="Georgia"/>
              </a:rPr>
              <a:t>Every action leaves an audit log, every decision updates the score, every role sees the same truth.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Three workspaces, one decision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687386"/>
                </a:solidFill>
                <a:latin typeface="Aptos"/>
              </a:rPr>
              <a:t>The platform speaks differently to each role, but the scoring vocabulary stays shared: evidence, thresholds, comments, actions and final ranking.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9504"/>
            <a:ext cx="3054096" cy="2596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89504"/>
            <a:ext cx="3054096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99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66160"/>
            <a:ext cx="2450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1">
                <a:solidFill>
                  <a:srgbClr val="0B1020"/>
                </a:solidFill>
                <a:latin typeface="Georgia"/>
              </a:rPr>
              <a:t>Knows exactly why the grant score 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261104"/>
            <a:ext cx="54864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41970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Personal score breakdown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489704"/>
            <a:ext cx="54864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44256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Courses and assignments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718304"/>
            <a:ext cx="54864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46542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Achievements and ideas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946904"/>
            <a:ext cx="54864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4882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Mentor feedback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175504"/>
            <a:ext cx="54864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51114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Security settings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7" y="2889504"/>
            <a:ext cx="3054096" cy="2596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7" y="2889504"/>
            <a:ext cx="3054096" cy="457200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999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Mentor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2450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1">
                <a:solidFill>
                  <a:srgbClr val="0B1020"/>
                </a:solidFill>
                <a:latin typeface="Georgia"/>
              </a:rPr>
              <a:t>Updates learning evidence without admin friction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7" y="4261104"/>
            <a:ext cx="54864" cy="54864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5464" y="41970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Attendance journal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7" y="4489704"/>
            <a:ext cx="54864" cy="54864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5464" y="44256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Assignment grading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7" y="4718304"/>
            <a:ext cx="54864" cy="54864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46542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Feedback broadcast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1727" y="4946904"/>
            <a:ext cx="54864" cy="54864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55464" y="4882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Calendar date picker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7" y="5175504"/>
            <a:ext cx="54864" cy="54864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55464" y="51114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Student-specific 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5" y="2889504"/>
            <a:ext cx="3054096" cy="2596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9015" y="2889504"/>
            <a:ext cx="3054096" cy="457200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2999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3566160"/>
            <a:ext cx="24505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1">
                <a:solidFill>
                  <a:srgbClr val="0B1020"/>
                </a:solidFill>
                <a:latin typeface="Georgia"/>
              </a:rPr>
              <a:t>Controls fairness, exceptions and auditability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7615" y="4261104"/>
            <a:ext cx="54864" cy="54864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1351" y="41970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16-column rating matrix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57615" y="4489704"/>
            <a:ext cx="54864" cy="54864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1" y="44256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Approval queues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57615" y="4718304"/>
            <a:ext cx="54864" cy="54864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1" y="46542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Penalty / recovery / job bonus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5" y="4946904"/>
            <a:ext cx="54864" cy="54864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1351" y="4882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FaceID import playground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57615" y="5175504"/>
            <a:ext cx="54864" cy="54864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1" y="51114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687386"/>
                </a:solidFill>
                <a:latin typeface="Aptos"/>
              </a:rPr>
              <a:t>System audit 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RULES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The score is explainable enough to be trusted and strict enough to be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687386"/>
                </a:solidFill>
                <a:latin typeface="Aptos"/>
              </a:rPr>
              <a:t>Edu-Metrix converts university policy into visible calculation: hard academic thresholds, capped activity points, mentor/tutor evidence, admin adjustments and audit history.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99232"/>
            <a:ext cx="6611112" cy="24505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020"/>
                </a:solidFill>
                <a:latin typeface="Aptos"/>
              </a:rPr>
              <a:t>Academic result (GPA)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1608" y="3456432"/>
            <a:ext cx="2944368" cy="7315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21608" y="3456432"/>
            <a:ext cx="2605765" cy="73152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3741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>
                <a:solidFill>
                  <a:srgbClr val="0B1020"/>
                </a:solidFill>
                <a:latin typeface="Aptos"/>
              </a:rPr>
              <a:t>35.4 /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85615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020"/>
                </a:solidFill>
                <a:latin typeface="Aptos"/>
              </a:rPr>
              <a:t>Attendance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3858768"/>
            <a:ext cx="2944368" cy="7315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21608" y="3858768"/>
            <a:ext cx="267643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7764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>
                <a:solidFill>
                  <a:srgbClr val="0B1020"/>
                </a:solidFill>
                <a:latin typeface="Aptos"/>
              </a:rPr>
              <a:t>18.18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8795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020"/>
                </a:solidFill>
                <a:latin typeface="Aptos"/>
              </a:rPr>
              <a:t>Assignments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21608" y="4261104"/>
            <a:ext cx="2944368" cy="7315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21608" y="4261104"/>
            <a:ext cx="2797149" cy="73152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1788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>
                <a:solidFill>
                  <a:srgbClr val="0B1020"/>
                </a:solidFill>
                <a:latin typeface="Aptos"/>
              </a:rPr>
              <a:t>14.25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9028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020"/>
                </a:solidFill>
                <a:latin typeface="Aptos"/>
              </a:rPr>
              <a:t>Activity &amp; certificates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4663440"/>
            <a:ext cx="2944368" cy="7315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21608" y="4663440"/>
            <a:ext cx="1619402" cy="73152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5811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>
                <a:solidFill>
                  <a:srgbClr val="0B1020"/>
                </a:solidFill>
                <a:latin typeface="Aptos"/>
              </a:rPr>
              <a:t>5.5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926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020"/>
                </a:solidFill>
                <a:latin typeface="Aptos"/>
              </a:rPr>
              <a:t>Tutor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21608" y="5065776"/>
            <a:ext cx="2944368" cy="7315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21608" y="5065776"/>
            <a:ext cx="2944368" cy="73152"/>
          </a:xfrm>
          <a:prstGeom prst="rect">
            <a:avLst/>
          </a:prstGeom>
          <a:solidFill>
            <a:srgbClr val="28B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98348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>
                <a:solidFill>
                  <a:srgbClr val="0B1020"/>
                </a:solidFill>
                <a:latin typeface="Aptos"/>
              </a:rPr>
              <a:t>5 /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0416" y="2999232"/>
            <a:ext cx="3035808" cy="2450592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29184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B4D5"/>
                </a:solidFill>
                <a:latin typeface="Aptos"/>
              </a:rPr>
              <a:t>Final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602736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0C896"/>
                </a:solidFill>
                <a:latin typeface="Georgia"/>
              </a:rPr>
              <a:t>90.83 / 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4315968"/>
            <a:ext cx="21396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D0EA"/>
                </a:solidFill>
                <a:latin typeface="Aptos"/>
              </a:rPr>
              <a:t>Base score - penalty + recovery + employment bonus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956048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B4D5"/>
                </a:solidFill>
                <a:latin typeface="Aptos"/>
              </a:rPr>
              <a:t>Grant loss triggers when GPA or attendance falls below the minimum policy threshold.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Students earn credit for improving the university, not only surviving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687386"/>
                </a:solidFill>
                <a:latin typeface="Aptos"/>
              </a:rPr>
              <a:t>The new ideas workflow makes campus contribution measurable: a student submits a solution, admins review with a message, and implemented ideas become score-bearing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0704" y="3145536"/>
            <a:ext cx="2359152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1016" y="3383280"/>
            <a:ext cx="438912" cy="438912"/>
          </a:xfrm>
          <a:prstGeom prst="ellipse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" y="34747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337413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1020"/>
                </a:solidFill>
                <a:latin typeface="Georgia"/>
              </a:rPr>
              <a:t>Submit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3749039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Problem, solution and expected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1296" y="3986784"/>
            <a:ext cx="713232" cy="22860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8224" y="3840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87386"/>
                </a:solidFill>
                <a:latin typeface="Apto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3145536"/>
            <a:ext cx="2359152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3383280"/>
            <a:ext cx="438912" cy="438912"/>
          </a:xfrm>
          <a:prstGeom prst="ellipse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34747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7413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1020"/>
                </a:solidFill>
                <a:latin typeface="Georgia"/>
              </a:rPr>
              <a:t>Admin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749039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Approve, implement or decline with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8856" y="3986784"/>
            <a:ext cx="713232" cy="22860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3840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87386"/>
                </a:solidFill>
                <a:latin typeface="Apto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3" y="3145536"/>
            <a:ext cx="2359152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46136" y="3383280"/>
            <a:ext cx="438912" cy="438912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34747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337413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B1020"/>
                </a:solidFill>
                <a:latin typeface="Georgia"/>
              </a:rPr>
              <a:t>Score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749039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+1 for approved, +2 when implemented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6152" y="5376672"/>
            <a:ext cx="9619488" cy="51206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522976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FFFFF"/>
                </a:solidFill>
                <a:latin typeface="Georgia"/>
              </a:rPr>
              <a:t>Why this wins: it changes the incentive model from passive compliance to active ownership.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TECHNICAL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The prototype is deployable, inspectable and built on modern defaults.</a:t>
            </a:r>
          </a:p>
        </p:txBody>
      </p:sp>
      <p:sp>
        <p:nvSpPr>
          <p:cNvPr id="6" name="Oval 5"/>
          <p:cNvSpPr/>
          <p:nvPr/>
        </p:nvSpPr>
        <p:spPr>
          <a:xfrm>
            <a:off x="877824" y="2633472"/>
            <a:ext cx="420624" cy="42062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72491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2633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React + Bun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935224"/>
            <a:ext cx="4956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Fast local dev, production build and GitHub Pages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3319272"/>
            <a:ext cx="420624" cy="420624"/>
          </a:xfrm>
          <a:prstGeom prst="ellipse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1071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319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shadcn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621024"/>
            <a:ext cx="4956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Default accessible components instead of fragile custom styling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4005072"/>
            <a:ext cx="420624" cy="420624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096511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005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State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306824"/>
            <a:ext cx="4956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Local reducer with audit logs and migration-safe persistence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690872"/>
            <a:ext cx="420624" cy="420624"/>
          </a:xfrm>
          <a:prstGeom prst="ellipse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78231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4690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GitHub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992624"/>
            <a:ext cx="4956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SPA fallback, correct base path, public assets and favicons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468880"/>
            <a:ext cx="3429000" cy="2999232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4" y="27797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C896"/>
                </a:solidFill>
                <a:latin typeface="Georgia"/>
              </a:rPr>
              <a:t>Live demo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2461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/student/overview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35478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/student/achievements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38496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/mentor/journal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41513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/admin/matrix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44531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/admin/queue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47548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9E2FF"/>
                </a:solidFill>
                <a:latin typeface="Aptos Mono"/>
              </a:rPr>
              <a:t>/admin/faceid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35824" y="5212080"/>
            <a:ext cx="2468880" cy="9144"/>
          </a:xfrm>
          <a:prstGeom prst="rect">
            <a:avLst/>
          </a:prstGeom>
          <a:solidFill>
            <a:srgbClr val="33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5349240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EB8D8"/>
                </a:solidFill>
                <a:latin typeface="Aptos"/>
              </a:rPr>
              <a:t>Engineering message: the demo can be opened, used and deployed during judging.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DEMO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A two-minute demo can show the full value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687386"/>
                </a:solidFill>
                <a:latin typeface="Aptos"/>
              </a:rPr>
              <a:t>The pitch should move through one student case: risk visibility, evidence submission, mentor/admin intervention, and final score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999232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10896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00:00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999232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Open Student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330098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Show score, grant status and breakdown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3685031"/>
            <a:ext cx="914400" cy="402336"/>
          </a:xfrm>
          <a:prstGeom prst="rect">
            <a:avLst/>
          </a:prstGeom>
          <a:solidFill>
            <a:srgbClr val="00C896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794759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3685031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Submit an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3986783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Explain +1 approved / +2 implemented incentive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4370831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480559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01:00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4370831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Switch Admin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4672583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Approve or implement with message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5056631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166359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01:30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5056631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Return to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5358383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87386"/>
                </a:solidFill>
                <a:latin typeface="Aptos"/>
              </a:rPr>
              <a:t>Show activity score and audit trail changed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17536" y="3127248"/>
            <a:ext cx="2889504" cy="201168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345643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C896"/>
                </a:solidFill>
                <a:latin typeface="Georgia"/>
              </a:rPr>
              <a:t>Judge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3913632"/>
            <a:ext cx="208483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5FF"/>
                </a:solidFill>
                <a:latin typeface="Aptos"/>
              </a:rPr>
              <a:t>This is not just UI polish. The product already behaves like a policy engine, workflow system and public-facing student portal.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329184" cy="3200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3891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87386"/>
                </a:solidFill>
                <a:latin typeface="Aptos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04672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020"/>
                </a:solidFill>
                <a:latin typeface="Georgia"/>
              </a:rPr>
              <a:t>Edu-Metrix hits the hackathon sweet spot: useful today, extensible tomorrow.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414016"/>
            <a:ext cx="164592" cy="1645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35915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Real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1024" y="239572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87386"/>
                </a:solidFill>
                <a:latin typeface="Aptos"/>
              </a:rPr>
              <a:t>Grant fairness and student retention are urgent university problems.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044952"/>
            <a:ext cx="164592" cy="164592"/>
          </a:xfrm>
          <a:prstGeom prst="rect">
            <a:avLst/>
          </a:prstGeom>
          <a:solidFill>
            <a:srgbClr val="6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99008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Live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026664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87386"/>
                </a:solidFill>
                <a:latin typeface="Aptos"/>
              </a:rPr>
              <a:t>The prototype has student, mentor, admin, auth pages and deployment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675887"/>
            <a:ext cx="164592" cy="164592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62102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Policy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65760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87386"/>
                </a:solidFill>
                <a:latin typeface="Aptos"/>
              </a:rPr>
              <a:t>The scoring model encodes thresholds, caps, bonuses and audit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306823"/>
            <a:ext cx="164592" cy="164592"/>
          </a:xfrm>
          <a:prstGeom prst="rect">
            <a:avLst/>
          </a:prstGeom>
          <a:solidFill>
            <a:srgbClr val="F0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25195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Behavior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28853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87386"/>
                </a:solidFill>
                <a:latin typeface="Aptos"/>
              </a:rPr>
              <a:t>The ideas system rewards students for improving the institution itself.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937759"/>
            <a:ext cx="164592" cy="164592"/>
          </a:xfrm>
          <a:prstGeom prst="rect">
            <a:avLst/>
          </a:prstGeom>
          <a:solidFill>
            <a:srgbClr val="28B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488289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020"/>
                </a:solidFill>
                <a:latin typeface="Georgia"/>
              </a:rPr>
              <a:t>Scalable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491947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87386"/>
                </a:solidFill>
                <a:latin typeface="Aptos"/>
              </a:rPr>
              <a:t>API import and role-based workflows can connect to real campus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749808"/>
            <a:ext cx="1426464" cy="142646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1060704"/>
            <a:ext cx="84124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C896"/>
                </a:solidFill>
                <a:latin typeface="Georgia"/>
              </a:rPr>
              <a:t>Built
for
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6327648"/>
            <a:ext cx="9966960" cy="9144"/>
          </a:xfrm>
          <a:prstGeom prst="rect">
            <a:avLst/>
          </a:prstGeom>
          <a:solidFill>
            <a:srgbClr val="D9D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6437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87386"/>
                </a:solidFill>
                <a:latin typeface="Aptos"/>
              </a:rPr>
              <a:t>EDU-METRIX / hackathon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8738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68580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84124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95A0C1"/>
                </a:solidFill>
                <a:latin typeface="Aptos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89888"/>
            <a:ext cx="7882127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Georgia"/>
              </a:rPr>
              <a:t>Let every student see the rules, improve the system, and earn trust in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55264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20" b="0">
                <a:solidFill>
                  <a:srgbClr val="D2DBF5"/>
                </a:solidFill>
                <a:latin typeface="Aptos"/>
              </a:rPr>
              <a:t>Edu-Metrix is ready for pilot judging: connect real attendance APIs, run one faculty cohort, and measure whether earlier visibility improves retention and grant fairness.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207008"/>
            <a:ext cx="2852928" cy="3712463"/>
          </a:xfrm>
          <a:prstGeom prst="rect">
            <a:avLst/>
          </a:prstGeom>
          <a:solidFill>
            <a:srgbClr val="14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8" y="17373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0C896"/>
                </a:solidFill>
                <a:latin typeface="Georgia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219456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one faculty, one semester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88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6E7BFF"/>
                </a:solidFill>
                <a:latin typeface="Georgia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324612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risk alerts and admin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384048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2B84B"/>
                </a:solidFill>
                <a:latin typeface="Georgia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429768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E0F7"/>
                </a:solidFill>
                <a:latin typeface="Aptos"/>
              </a:rPr>
              <a:t>campus-wide policy cockpit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83387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C896"/>
                </a:solidFill>
                <a:latin typeface="Aptos"/>
              </a:rPr>
              <a:t>EDU-METRIX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19963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7B1D1"/>
                </a:solidFill>
                <a:latin typeface="Aptos"/>
              </a:rPr>
              <a:t>Dominant Team / PDP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